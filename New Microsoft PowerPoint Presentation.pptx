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66BB3E-B090-40A8-A16C-EC70BFDE07D2}"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IN"/>
        </a:p>
      </dgm:t>
    </dgm:pt>
    <dgm:pt modelId="{E5D8D4E1-C4F3-4BAA-B8E7-ED00674759CD}">
      <dgm:prSet phldrT="[Text]" custT="1">
        <dgm:style>
          <a:lnRef idx="2">
            <a:schemeClr val="dk1"/>
          </a:lnRef>
          <a:fillRef idx="1">
            <a:schemeClr val="lt1"/>
          </a:fillRef>
          <a:effectRef idx="0">
            <a:schemeClr val="dk1"/>
          </a:effectRef>
          <a:fontRef idx="minor">
            <a:schemeClr val="dk1"/>
          </a:fontRef>
        </dgm:style>
      </dgm:prSet>
      <dgm:spPr>
        <a:ln w="19050"/>
      </dgm:spPr>
      <dgm:t>
        <a:bodyPr/>
        <a:lstStyle/>
        <a:p>
          <a:r>
            <a:rPr lang="en-US" sz="1600" dirty="0"/>
            <a:t>User selects stock for prediction and calls an API that sends it to the Node server </a:t>
          </a:r>
          <a:endParaRPr lang="en-IN" sz="1600" dirty="0"/>
        </a:p>
      </dgm:t>
    </dgm:pt>
    <dgm:pt modelId="{4080C0B9-8C02-4556-A0C0-B2D9A57EB591}" type="parTrans" cxnId="{A50992EC-F753-452B-BAC0-C0C2D3C96A7D}">
      <dgm:prSet/>
      <dgm:spPr/>
      <dgm:t>
        <a:bodyPr/>
        <a:lstStyle/>
        <a:p>
          <a:endParaRPr lang="en-IN"/>
        </a:p>
      </dgm:t>
    </dgm:pt>
    <dgm:pt modelId="{403CA6C4-A8BE-4670-87BB-00984518FCC0}" type="sibTrans" cxnId="{A50992EC-F753-452B-BAC0-C0C2D3C96A7D}">
      <dgm:prSet/>
      <dgm:spPr/>
      <dgm:t>
        <a:bodyPr/>
        <a:lstStyle/>
        <a:p>
          <a:endParaRPr lang="en-IN"/>
        </a:p>
      </dgm:t>
    </dgm:pt>
    <dgm:pt modelId="{D01A850D-D83D-4AF0-A9DD-2ED061A05322}">
      <dgm:prSet phldrT="[Text]">
        <dgm:style>
          <a:lnRef idx="2">
            <a:schemeClr val="dk1"/>
          </a:lnRef>
          <a:fillRef idx="1">
            <a:schemeClr val="lt1"/>
          </a:fillRef>
          <a:effectRef idx="0">
            <a:schemeClr val="dk1"/>
          </a:effectRef>
          <a:fontRef idx="minor">
            <a:schemeClr val="dk1"/>
          </a:fontRef>
        </dgm:style>
      </dgm:prSet>
      <dgm:spPr>
        <a:ln w="19050"/>
      </dgm:spPr>
      <dgm:t>
        <a:bodyPr/>
        <a:lstStyle/>
        <a:p>
          <a:r>
            <a:rPr lang="en-US" dirty="0"/>
            <a:t>Node server has a Post API that runs the Python Script to find prediction for user selected Stock</a:t>
          </a:r>
          <a:endParaRPr lang="en-IN" dirty="0"/>
        </a:p>
      </dgm:t>
    </dgm:pt>
    <dgm:pt modelId="{D2AD65D2-C71D-4D21-B6E1-C7BCF82C4EA7}" type="parTrans" cxnId="{77056B46-BABE-4FEC-92D9-89EB34825F9B}">
      <dgm:prSet/>
      <dgm:spPr/>
      <dgm:t>
        <a:bodyPr/>
        <a:lstStyle/>
        <a:p>
          <a:endParaRPr lang="en-IN"/>
        </a:p>
      </dgm:t>
    </dgm:pt>
    <dgm:pt modelId="{1812499B-3D4D-4843-83EE-03BDB7672DF9}" type="sibTrans" cxnId="{77056B46-BABE-4FEC-92D9-89EB34825F9B}">
      <dgm:prSet/>
      <dgm:spPr/>
      <dgm:t>
        <a:bodyPr/>
        <a:lstStyle/>
        <a:p>
          <a:endParaRPr lang="en-IN"/>
        </a:p>
      </dgm:t>
    </dgm:pt>
    <dgm:pt modelId="{3DC67633-A436-4A3F-8ECC-454863F240BB}">
      <dgm:prSet phldrT="[Text]">
        <dgm:style>
          <a:lnRef idx="2">
            <a:schemeClr val="dk1"/>
          </a:lnRef>
          <a:fillRef idx="1">
            <a:schemeClr val="lt1"/>
          </a:fillRef>
          <a:effectRef idx="0">
            <a:schemeClr val="dk1"/>
          </a:effectRef>
          <a:fontRef idx="minor">
            <a:schemeClr val="dk1"/>
          </a:fontRef>
        </dgm:style>
      </dgm:prSet>
      <dgm:spPr>
        <a:ln w="19050"/>
      </dgm:spPr>
      <dgm:t>
        <a:bodyPr/>
        <a:lstStyle/>
        <a:p>
          <a:r>
            <a:rPr lang="en-US" dirty="0"/>
            <a:t>Python Scripts collects, Preprocesses the data and apply model to Make predictions </a:t>
          </a:r>
          <a:endParaRPr lang="en-IN" dirty="0"/>
        </a:p>
      </dgm:t>
    </dgm:pt>
    <dgm:pt modelId="{95DC6001-0D25-45D4-BC33-A52D6619F2C7}" type="parTrans" cxnId="{129FB55D-59C8-422C-B146-81B60EE1DCAA}">
      <dgm:prSet/>
      <dgm:spPr/>
      <dgm:t>
        <a:bodyPr/>
        <a:lstStyle/>
        <a:p>
          <a:endParaRPr lang="en-IN"/>
        </a:p>
      </dgm:t>
    </dgm:pt>
    <dgm:pt modelId="{76F629A0-8486-4043-9AE8-5AD703E36CC1}" type="sibTrans" cxnId="{129FB55D-59C8-422C-B146-81B60EE1DCAA}">
      <dgm:prSet/>
      <dgm:spPr/>
      <dgm:t>
        <a:bodyPr/>
        <a:lstStyle/>
        <a:p>
          <a:endParaRPr lang="en-IN"/>
        </a:p>
      </dgm:t>
    </dgm:pt>
    <dgm:pt modelId="{FFE16BC2-7BA8-4EA2-BDFA-2EAEECA1F2EE}">
      <dgm:prSet phldrT="[Text]">
        <dgm:style>
          <a:lnRef idx="2">
            <a:schemeClr val="dk1"/>
          </a:lnRef>
          <a:fillRef idx="1">
            <a:schemeClr val="lt1"/>
          </a:fillRef>
          <a:effectRef idx="0">
            <a:schemeClr val="dk1"/>
          </a:effectRef>
          <a:fontRef idx="minor">
            <a:schemeClr val="dk1"/>
          </a:fontRef>
        </dgm:style>
      </dgm:prSet>
      <dgm:spPr>
        <a:ln w="19050"/>
      </dgm:spPr>
      <dgm:t>
        <a:bodyPr/>
        <a:lstStyle/>
        <a:p>
          <a:r>
            <a:rPr lang="en-US" dirty="0"/>
            <a:t>The front end after fetching the data prediction and other factors forms a proper visual format for all that information</a:t>
          </a:r>
          <a:endParaRPr lang="en-IN" dirty="0"/>
        </a:p>
      </dgm:t>
    </dgm:pt>
    <dgm:pt modelId="{A5A29470-CDF1-4C22-BE43-9CD60C7BD418}" type="parTrans" cxnId="{931EE7CA-F108-49CD-B661-8DCC90D2A913}">
      <dgm:prSet/>
      <dgm:spPr/>
      <dgm:t>
        <a:bodyPr/>
        <a:lstStyle/>
        <a:p>
          <a:endParaRPr lang="en-IN"/>
        </a:p>
      </dgm:t>
    </dgm:pt>
    <dgm:pt modelId="{FADD04F4-C8AE-4623-AA22-E91F09D49AB7}" type="sibTrans" cxnId="{931EE7CA-F108-49CD-B661-8DCC90D2A913}">
      <dgm:prSet/>
      <dgm:spPr/>
      <dgm:t>
        <a:bodyPr/>
        <a:lstStyle/>
        <a:p>
          <a:endParaRPr lang="en-IN"/>
        </a:p>
      </dgm:t>
    </dgm:pt>
    <dgm:pt modelId="{2396585E-673B-40FC-9E83-E9A883103E3E}">
      <dgm:prSet phldrT="[Text]">
        <dgm:style>
          <a:lnRef idx="2">
            <a:schemeClr val="dk1"/>
          </a:lnRef>
          <a:fillRef idx="1">
            <a:schemeClr val="lt1"/>
          </a:fillRef>
          <a:effectRef idx="0">
            <a:schemeClr val="dk1"/>
          </a:effectRef>
          <a:fontRef idx="minor">
            <a:schemeClr val="dk1"/>
          </a:fontRef>
        </dgm:style>
      </dgm:prSet>
      <dgm:spPr>
        <a:ln w="19050"/>
      </dgm:spPr>
      <dgm:t>
        <a:bodyPr/>
        <a:lstStyle/>
        <a:p>
          <a:r>
            <a:rPr lang="en-US" dirty="0"/>
            <a:t>The Prediction from the Python script is catches by the server and is sent as a response to front end </a:t>
          </a:r>
          <a:endParaRPr lang="en-IN" dirty="0"/>
        </a:p>
      </dgm:t>
    </dgm:pt>
    <dgm:pt modelId="{463D2E8D-FFD9-4D94-A62B-6BDAE1856563}" type="parTrans" cxnId="{C1DB60F8-5056-45DC-842C-E6A4670A1665}">
      <dgm:prSet/>
      <dgm:spPr/>
      <dgm:t>
        <a:bodyPr/>
        <a:lstStyle/>
        <a:p>
          <a:endParaRPr lang="en-IN"/>
        </a:p>
      </dgm:t>
    </dgm:pt>
    <dgm:pt modelId="{799FEE31-CEFA-476A-9F8B-B7462B3EB03E}" type="sibTrans" cxnId="{C1DB60F8-5056-45DC-842C-E6A4670A1665}">
      <dgm:prSet/>
      <dgm:spPr/>
      <dgm:t>
        <a:bodyPr/>
        <a:lstStyle/>
        <a:p>
          <a:endParaRPr lang="en-IN"/>
        </a:p>
      </dgm:t>
    </dgm:pt>
    <dgm:pt modelId="{651B880A-4812-4863-B6FD-376FB5FF2060}" type="pres">
      <dgm:prSet presAssocID="{7966BB3E-B090-40A8-A16C-EC70BFDE07D2}" presName="Name0" presStyleCnt="0">
        <dgm:presLayoutVars>
          <dgm:dir/>
          <dgm:animLvl val="lvl"/>
          <dgm:resizeHandles val="exact"/>
        </dgm:presLayoutVars>
      </dgm:prSet>
      <dgm:spPr/>
    </dgm:pt>
    <dgm:pt modelId="{A873E075-11C9-496C-A718-FDDF8A0B63CF}" type="pres">
      <dgm:prSet presAssocID="{FFE16BC2-7BA8-4EA2-BDFA-2EAEECA1F2EE}" presName="boxAndChildren" presStyleCnt="0"/>
      <dgm:spPr/>
    </dgm:pt>
    <dgm:pt modelId="{95F340AC-0272-4657-AA09-7BCD4B915B5E}" type="pres">
      <dgm:prSet presAssocID="{FFE16BC2-7BA8-4EA2-BDFA-2EAEECA1F2EE}" presName="parentTextBox" presStyleLbl="node1" presStyleIdx="0" presStyleCnt="5"/>
      <dgm:spPr/>
    </dgm:pt>
    <dgm:pt modelId="{6B47D593-9F5E-4E79-821F-DBA684ADBA3A}" type="pres">
      <dgm:prSet presAssocID="{799FEE31-CEFA-476A-9F8B-B7462B3EB03E}" presName="sp" presStyleCnt="0"/>
      <dgm:spPr/>
    </dgm:pt>
    <dgm:pt modelId="{124D7D9F-5EFE-4208-AB24-B577D83E3676}" type="pres">
      <dgm:prSet presAssocID="{2396585E-673B-40FC-9E83-E9A883103E3E}" presName="arrowAndChildren" presStyleCnt="0"/>
      <dgm:spPr/>
    </dgm:pt>
    <dgm:pt modelId="{A06F5E7D-4F1C-44B1-8A7B-30071BDB6F66}" type="pres">
      <dgm:prSet presAssocID="{2396585E-673B-40FC-9E83-E9A883103E3E}" presName="parentTextArrow" presStyleLbl="node1" presStyleIdx="1" presStyleCnt="5"/>
      <dgm:spPr/>
    </dgm:pt>
    <dgm:pt modelId="{5122A8CA-0533-4E6F-961B-AB08CBD4CA73}" type="pres">
      <dgm:prSet presAssocID="{76F629A0-8486-4043-9AE8-5AD703E36CC1}" presName="sp" presStyleCnt="0"/>
      <dgm:spPr/>
    </dgm:pt>
    <dgm:pt modelId="{20354ADC-D82C-4CE4-89A5-44AC12864F83}" type="pres">
      <dgm:prSet presAssocID="{3DC67633-A436-4A3F-8ECC-454863F240BB}" presName="arrowAndChildren" presStyleCnt="0"/>
      <dgm:spPr/>
    </dgm:pt>
    <dgm:pt modelId="{25EA3CA6-5721-487C-BBAE-5B8D635589A9}" type="pres">
      <dgm:prSet presAssocID="{3DC67633-A436-4A3F-8ECC-454863F240BB}" presName="parentTextArrow" presStyleLbl="node1" presStyleIdx="2" presStyleCnt="5"/>
      <dgm:spPr/>
    </dgm:pt>
    <dgm:pt modelId="{E833FD2D-F188-4C03-9DC3-23F9DFC9E7C8}" type="pres">
      <dgm:prSet presAssocID="{1812499B-3D4D-4843-83EE-03BDB7672DF9}" presName="sp" presStyleCnt="0"/>
      <dgm:spPr/>
    </dgm:pt>
    <dgm:pt modelId="{3A3A8374-925F-42FA-8288-E0BB2E6D427B}" type="pres">
      <dgm:prSet presAssocID="{D01A850D-D83D-4AF0-A9DD-2ED061A05322}" presName="arrowAndChildren" presStyleCnt="0"/>
      <dgm:spPr/>
    </dgm:pt>
    <dgm:pt modelId="{C9665ACD-3BE1-4CBB-80B6-EA229B3A3F09}" type="pres">
      <dgm:prSet presAssocID="{D01A850D-D83D-4AF0-A9DD-2ED061A05322}" presName="parentTextArrow" presStyleLbl="node1" presStyleIdx="3" presStyleCnt="5"/>
      <dgm:spPr/>
    </dgm:pt>
    <dgm:pt modelId="{6460128F-3CC4-427E-8CFA-95F76E99770D}" type="pres">
      <dgm:prSet presAssocID="{403CA6C4-A8BE-4670-87BB-00984518FCC0}" presName="sp" presStyleCnt="0"/>
      <dgm:spPr/>
    </dgm:pt>
    <dgm:pt modelId="{7A915585-B1B2-405C-BB17-1E10EC3CCE40}" type="pres">
      <dgm:prSet presAssocID="{E5D8D4E1-C4F3-4BAA-B8E7-ED00674759CD}" presName="arrowAndChildren" presStyleCnt="0"/>
      <dgm:spPr/>
    </dgm:pt>
    <dgm:pt modelId="{CE04CA10-5189-4462-BAB4-DD5BAF979F5A}" type="pres">
      <dgm:prSet presAssocID="{E5D8D4E1-C4F3-4BAA-B8E7-ED00674759CD}" presName="parentTextArrow" presStyleLbl="node1" presStyleIdx="4" presStyleCnt="5"/>
      <dgm:spPr/>
    </dgm:pt>
  </dgm:ptLst>
  <dgm:cxnLst>
    <dgm:cxn modelId="{B18AAF2E-8A47-4B18-8605-9D39EFFFF2BB}" type="presOf" srcId="{2396585E-673B-40FC-9E83-E9A883103E3E}" destId="{A06F5E7D-4F1C-44B1-8A7B-30071BDB6F66}" srcOrd="0" destOrd="0" presId="urn:microsoft.com/office/officeart/2005/8/layout/process4"/>
    <dgm:cxn modelId="{129FB55D-59C8-422C-B146-81B60EE1DCAA}" srcId="{7966BB3E-B090-40A8-A16C-EC70BFDE07D2}" destId="{3DC67633-A436-4A3F-8ECC-454863F240BB}" srcOrd="2" destOrd="0" parTransId="{95DC6001-0D25-45D4-BC33-A52D6619F2C7}" sibTransId="{76F629A0-8486-4043-9AE8-5AD703E36CC1}"/>
    <dgm:cxn modelId="{77056B46-BABE-4FEC-92D9-89EB34825F9B}" srcId="{7966BB3E-B090-40A8-A16C-EC70BFDE07D2}" destId="{D01A850D-D83D-4AF0-A9DD-2ED061A05322}" srcOrd="1" destOrd="0" parTransId="{D2AD65D2-C71D-4D21-B6E1-C7BCF82C4EA7}" sibTransId="{1812499B-3D4D-4843-83EE-03BDB7672DF9}"/>
    <dgm:cxn modelId="{0CA6BC70-00C5-4DB0-8A16-D18DF95F2E05}" type="presOf" srcId="{3DC67633-A436-4A3F-8ECC-454863F240BB}" destId="{25EA3CA6-5721-487C-BBAE-5B8D635589A9}" srcOrd="0" destOrd="0" presId="urn:microsoft.com/office/officeart/2005/8/layout/process4"/>
    <dgm:cxn modelId="{1B673F93-91F4-424A-93D2-BF035EBE5C31}" type="presOf" srcId="{FFE16BC2-7BA8-4EA2-BDFA-2EAEECA1F2EE}" destId="{95F340AC-0272-4657-AA09-7BCD4B915B5E}" srcOrd="0" destOrd="0" presId="urn:microsoft.com/office/officeart/2005/8/layout/process4"/>
    <dgm:cxn modelId="{838A30A0-ACA2-4AB9-8D21-9F1374CC1900}" type="presOf" srcId="{7966BB3E-B090-40A8-A16C-EC70BFDE07D2}" destId="{651B880A-4812-4863-B6FD-376FB5FF2060}" srcOrd="0" destOrd="0" presId="urn:microsoft.com/office/officeart/2005/8/layout/process4"/>
    <dgm:cxn modelId="{1C3CE9C0-4FF5-4F43-9BE6-5F74C29B07BB}" type="presOf" srcId="{D01A850D-D83D-4AF0-A9DD-2ED061A05322}" destId="{C9665ACD-3BE1-4CBB-80B6-EA229B3A3F09}" srcOrd="0" destOrd="0" presId="urn:microsoft.com/office/officeart/2005/8/layout/process4"/>
    <dgm:cxn modelId="{931EE7CA-F108-49CD-B661-8DCC90D2A913}" srcId="{7966BB3E-B090-40A8-A16C-EC70BFDE07D2}" destId="{FFE16BC2-7BA8-4EA2-BDFA-2EAEECA1F2EE}" srcOrd="4" destOrd="0" parTransId="{A5A29470-CDF1-4C22-BE43-9CD60C7BD418}" sibTransId="{FADD04F4-C8AE-4623-AA22-E91F09D49AB7}"/>
    <dgm:cxn modelId="{5280EFD3-9151-49E7-AE8F-A4CC5ADE3380}" type="presOf" srcId="{E5D8D4E1-C4F3-4BAA-B8E7-ED00674759CD}" destId="{CE04CA10-5189-4462-BAB4-DD5BAF979F5A}" srcOrd="0" destOrd="0" presId="urn:microsoft.com/office/officeart/2005/8/layout/process4"/>
    <dgm:cxn modelId="{A50992EC-F753-452B-BAC0-C0C2D3C96A7D}" srcId="{7966BB3E-B090-40A8-A16C-EC70BFDE07D2}" destId="{E5D8D4E1-C4F3-4BAA-B8E7-ED00674759CD}" srcOrd="0" destOrd="0" parTransId="{4080C0B9-8C02-4556-A0C0-B2D9A57EB591}" sibTransId="{403CA6C4-A8BE-4670-87BB-00984518FCC0}"/>
    <dgm:cxn modelId="{C1DB60F8-5056-45DC-842C-E6A4670A1665}" srcId="{7966BB3E-B090-40A8-A16C-EC70BFDE07D2}" destId="{2396585E-673B-40FC-9E83-E9A883103E3E}" srcOrd="3" destOrd="0" parTransId="{463D2E8D-FFD9-4D94-A62B-6BDAE1856563}" sibTransId="{799FEE31-CEFA-476A-9F8B-B7462B3EB03E}"/>
    <dgm:cxn modelId="{7A4D23D0-E42C-4094-95FD-A33C7AB81E7C}" type="presParOf" srcId="{651B880A-4812-4863-B6FD-376FB5FF2060}" destId="{A873E075-11C9-496C-A718-FDDF8A0B63CF}" srcOrd="0" destOrd="0" presId="urn:microsoft.com/office/officeart/2005/8/layout/process4"/>
    <dgm:cxn modelId="{5D8D615F-AD43-4F45-A991-AE28D7B73D91}" type="presParOf" srcId="{A873E075-11C9-496C-A718-FDDF8A0B63CF}" destId="{95F340AC-0272-4657-AA09-7BCD4B915B5E}" srcOrd="0" destOrd="0" presId="urn:microsoft.com/office/officeart/2005/8/layout/process4"/>
    <dgm:cxn modelId="{11EA9405-5F2C-4FA6-A8C7-610F33B4C80D}" type="presParOf" srcId="{651B880A-4812-4863-B6FD-376FB5FF2060}" destId="{6B47D593-9F5E-4E79-821F-DBA684ADBA3A}" srcOrd="1" destOrd="0" presId="urn:microsoft.com/office/officeart/2005/8/layout/process4"/>
    <dgm:cxn modelId="{8C3A6F95-02A1-42C4-896B-B69082A71775}" type="presParOf" srcId="{651B880A-4812-4863-B6FD-376FB5FF2060}" destId="{124D7D9F-5EFE-4208-AB24-B577D83E3676}" srcOrd="2" destOrd="0" presId="urn:microsoft.com/office/officeart/2005/8/layout/process4"/>
    <dgm:cxn modelId="{04ECCA52-C35D-4D80-8DCC-D4CC99960E73}" type="presParOf" srcId="{124D7D9F-5EFE-4208-AB24-B577D83E3676}" destId="{A06F5E7D-4F1C-44B1-8A7B-30071BDB6F66}" srcOrd="0" destOrd="0" presId="urn:microsoft.com/office/officeart/2005/8/layout/process4"/>
    <dgm:cxn modelId="{FC5D9C09-A5AF-4705-8D32-E5E3E437037C}" type="presParOf" srcId="{651B880A-4812-4863-B6FD-376FB5FF2060}" destId="{5122A8CA-0533-4E6F-961B-AB08CBD4CA73}" srcOrd="3" destOrd="0" presId="urn:microsoft.com/office/officeart/2005/8/layout/process4"/>
    <dgm:cxn modelId="{D3361E13-0E5D-438C-881D-3691F4A97915}" type="presParOf" srcId="{651B880A-4812-4863-B6FD-376FB5FF2060}" destId="{20354ADC-D82C-4CE4-89A5-44AC12864F83}" srcOrd="4" destOrd="0" presId="urn:microsoft.com/office/officeart/2005/8/layout/process4"/>
    <dgm:cxn modelId="{4617CD7A-C8F2-4096-A38C-057F15335FE2}" type="presParOf" srcId="{20354ADC-D82C-4CE4-89A5-44AC12864F83}" destId="{25EA3CA6-5721-487C-BBAE-5B8D635589A9}" srcOrd="0" destOrd="0" presId="urn:microsoft.com/office/officeart/2005/8/layout/process4"/>
    <dgm:cxn modelId="{A69EB4F6-9D58-4565-85A3-F244B2B5E378}" type="presParOf" srcId="{651B880A-4812-4863-B6FD-376FB5FF2060}" destId="{E833FD2D-F188-4C03-9DC3-23F9DFC9E7C8}" srcOrd="5" destOrd="0" presId="urn:microsoft.com/office/officeart/2005/8/layout/process4"/>
    <dgm:cxn modelId="{4C0AE231-B878-4CBE-8C47-ADB7F98BAADA}" type="presParOf" srcId="{651B880A-4812-4863-B6FD-376FB5FF2060}" destId="{3A3A8374-925F-42FA-8288-E0BB2E6D427B}" srcOrd="6" destOrd="0" presId="urn:microsoft.com/office/officeart/2005/8/layout/process4"/>
    <dgm:cxn modelId="{D24DEBCA-F72F-4BC0-9876-0F45DBDE1BC2}" type="presParOf" srcId="{3A3A8374-925F-42FA-8288-E0BB2E6D427B}" destId="{C9665ACD-3BE1-4CBB-80B6-EA229B3A3F09}" srcOrd="0" destOrd="0" presId="urn:microsoft.com/office/officeart/2005/8/layout/process4"/>
    <dgm:cxn modelId="{915203D5-4B32-489E-803E-E169D813818F}" type="presParOf" srcId="{651B880A-4812-4863-B6FD-376FB5FF2060}" destId="{6460128F-3CC4-427E-8CFA-95F76E99770D}" srcOrd="7" destOrd="0" presId="urn:microsoft.com/office/officeart/2005/8/layout/process4"/>
    <dgm:cxn modelId="{96CED15B-99B2-410B-B748-356A992DFE0E}" type="presParOf" srcId="{651B880A-4812-4863-B6FD-376FB5FF2060}" destId="{7A915585-B1B2-405C-BB17-1E10EC3CCE40}" srcOrd="8" destOrd="0" presId="urn:microsoft.com/office/officeart/2005/8/layout/process4"/>
    <dgm:cxn modelId="{D6E4D6E7-5BAA-4FF3-9689-DAD9FC3C12B9}" type="presParOf" srcId="{7A915585-B1B2-405C-BB17-1E10EC3CCE40}" destId="{CE04CA10-5189-4462-BAB4-DD5BAF979F5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F340AC-0272-4657-AA09-7BCD4B915B5E}">
      <dsp:nvSpPr>
        <dsp:cNvPr id="0" name=""/>
        <dsp:cNvSpPr/>
      </dsp:nvSpPr>
      <dsp:spPr>
        <a:xfrm>
          <a:off x="0" y="4212804"/>
          <a:ext cx="8958007" cy="691145"/>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The front end after fetching the data prediction and other factors forms a proper visual format for all that information</a:t>
          </a:r>
          <a:endParaRPr lang="en-IN" sz="1600" kern="1200" dirty="0"/>
        </a:p>
      </dsp:txBody>
      <dsp:txXfrm>
        <a:off x="0" y="4212804"/>
        <a:ext cx="8958007" cy="691145"/>
      </dsp:txXfrm>
    </dsp:sp>
    <dsp:sp modelId="{A06F5E7D-4F1C-44B1-8A7B-30071BDB6F66}">
      <dsp:nvSpPr>
        <dsp:cNvPr id="0" name=""/>
        <dsp:cNvSpPr/>
      </dsp:nvSpPr>
      <dsp:spPr>
        <a:xfrm rot="10800000">
          <a:off x="0" y="3160190"/>
          <a:ext cx="8958007" cy="1062982"/>
        </a:xfrm>
        <a:prstGeom prst="upArrowCallou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The Prediction from the Python script is catches by the server and is sent as a response to front end </a:t>
          </a:r>
          <a:endParaRPr lang="en-IN" sz="1600" kern="1200" dirty="0"/>
        </a:p>
      </dsp:txBody>
      <dsp:txXfrm rot="10800000">
        <a:off x="0" y="3160190"/>
        <a:ext cx="8958007" cy="690694"/>
      </dsp:txXfrm>
    </dsp:sp>
    <dsp:sp modelId="{25EA3CA6-5721-487C-BBAE-5B8D635589A9}">
      <dsp:nvSpPr>
        <dsp:cNvPr id="0" name=""/>
        <dsp:cNvSpPr/>
      </dsp:nvSpPr>
      <dsp:spPr>
        <a:xfrm rot="10800000">
          <a:off x="0" y="2107575"/>
          <a:ext cx="8958007" cy="1062982"/>
        </a:xfrm>
        <a:prstGeom prst="upArrowCallou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Python Scripts collects, Preprocesses the data and apply model to Make predictions </a:t>
          </a:r>
          <a:endParaRPr lang="en-IN" sz="1600" kern="1200" dirty="0"/>
        </a:p>
      </dsp:txBody>
      <dsp:txXfrm rot="10800000">
        <a:off x="0" y="2107575"/>
        <a:ext cx="8958007" cy="690694"/>
      </dsp:txXfrm>
    </dsp:sp>
    <dsp:sp modelId="{C9665ACD-3BE1-4CBB-80B6-EA229B3A3F09}">
      <dsp:nvSpPr>
        <dsp:cNvPr id="0" name=""/>
        <dsp:cNvSpPr/>
      </dsp:nvSpPr>
      <dsp:spPr>
        <a:xfrm rot="10800000">
          <a:off x="0" y="1054960"/>
          <a:ext cx="8958007" cy="1062982"/>
        </a:xfrm>
        <a:prstGeom prst="upArrowCallou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Node server has a Post API that runs the Python Script to find prediction for user selected Stock</a:t>
          </a:r>
          <a:endParaRPr lang="en-IN" sz="1600" kern="1200" dirty="0"/>
        </a:p>
      </dsp:txBody>
      <dsp:txXfrm rot="10800000">
        <a:off x="0" y="1054960"/>
        <a:ext cx="8958007" cy="690694"/>
      </dsp:txXfrm>
    </dsp:sp>
    <dsp:sp modelId="{CE04CA10-5189-4462-BAB4-DD5BAF979F5A}">
      <dsp:nvSpPr>
        <dsp:cNvPr id="0" name=""/>
        <dsp:cNvSpPr/>
      </dsp:nvSpPr>
      <dsp:spPr>
        <a:xfrm rot="10800000">
          <a:off x="0" y="2345"/>
          <a:ext cx="8958007" cy="1062982"/>
        </a:xfrm>
        <a:prstGeom prst="upArrowCallou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User selects stock for prediction and calls an API that sends it to the Node server </a:t>
          </a:r>
          <a:endParaRPr lang="en-IN" sz="1600" kern="1200" dirty="0"/>
        </a:p>
      </dsp:txBody>
      <dsp:txXfrm rot="10800000">
        <a:off x="0" y="2345"/>
        <a:ext cx="8958007" cy="6906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7F39-3311-14CB-EC34-6CE330B37A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9E0DEE-5199-110C-1D28-E9D0D2BAE2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611965-6BF4-7FB9-1D91-E3E144E0DA21}"/>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DA54F90E-2F33-C9ED-5D7E-D50D9D90509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E491F49-9FFF-8F31-C081-1A76E15BBA02}"/>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20724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C5423-4ADB-0203-C98A-7103875BAE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58DF33-D448-8CAF-50D6-F5C9CF789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3CFA15-5C5F-3BE9-E5FA-95F2C6761845}"/>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85B436FE-5201-B0A6-ABDB-97575874C04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758B5E-2268-F679-84B4-9DE17D104892}"/>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3702026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17192-042A-38F3-0DC6-5BECD18158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A57543-8154-112F-20F1-8EF1B8B5D9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C7C7A4-FC90-3102-E997-38B74B7E72B4}"/>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D8E090F6-9464-B738-B7E6-D039E50C270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6CBB21C-D149-C724-E6D8-21B8A9C590EC}"/>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189481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2412-926F-2D30-1A6D-8F62187D66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9B66DF-28C5-CCD7-E756-E43DD9FA96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EA1210-8711-7A0C-B10D-9EEA66B6EC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A7ECE4-7380-F037-98D2-0F3F3E4208D6}"/>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6" name="Footer Placeholder 5">
            <a:extLst>
              <a:ext uri="{FF2B5EF4-FFF2-40B4-BE49-F238E27FC236}">
                <a16:creationId xmlns:a16="http://schemas.microsoft.com/office/drawing/2014/main" id="{B7A1495D-8CCA-4AE0-CDE9-2573964A296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B0A7B1A-36AB-48E4-42CB-4C9E1277FCDE}"/>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6624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D6C6-7DAB-7A35-EEAE-A7CF2A75A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3F81CC-B7B6-EA6D-2694-A0C6C85DB4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8F9E2D-ED0B-7228-7598-F87743AD1E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1CDC35-E5DB-E786-E6B0-4D3C16149B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C4B99F-CBD6-184C-5E01-7B85ED45DC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A9B559-6AE9-1BFE-DE9A-23CA53FC1E66}"/>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8" name="Footer Placeholder 7">
            <a:extLst>
              <a:ext uri="{FF2B5EF4-FFF2-40B4-BE49-F238E27FC236}">
                <a16:creationId xmlns:a16="http://schemas.microsoft.com/office/drawing/2014/main" id="{6F7AC801-A852-7B84-8E75-796E98FFFF2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09B3C0AC-E8EC-C050-C18E-DF950E50891D}"/>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3430875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385-7FC2-C945-C877-FE6DFA47EA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9F0EF2-2BA0-2679-471C-5BB5B503B983}"/>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4" name="Footer Placeholder 3">
            <a:extLst>
              <a:ext uri="{FF2B5EF4-FFF2-40B4-BE49-F238E27FC236}">
                <a16:creationId xmlns:a16="http://schemas.microsoft.com/office/drawing/2014/main" id="{51A369C4-2A3C-F36D-394B-6F229CA9FD9E}"/>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42EB20A-CB71-C1B2-5962-DFECD7053C40}"/>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482733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7762E-A5DB-5DE0-3D84-1857F57EEF4F}"/>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3" name="Footer Placeholder 2">
            <a:extLst>
              <a:ext uri="{FF2B5EF4-FFF2-40B4-BE49-F238E27FC236}">
                <a16:creationId xmlns:a16="http://schemas.microsoft.com/office/drawing/2014/main" id="{E97FBADA-3857-3EC9-28CD-66FC76A55F3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790B3545-DF34-E807-3E7E-B4E31B42668E}"/>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1933481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79A0B-1276-67D9-BE65-0EBC3533F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18A887-F4EE-388F-94BF-222BDAE621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2D288E-3D9C-97F7-649A-BA9896C8D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88FC48-41F6-7E59-BD1E-5F51344A10B9}"/>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6" name="Footer Placeholder 5">
            <a:extLst>
              <a:ext uri="{FF2B5EF4-FFF2-40B4-BE49-F238E27FC236}">
                <a16:creationId xmlns:a16="http://schemas.microsoft.com/office/drawing/2014/main" id="{71DB5BEC-013A-4E18-3448-8C6F267E90B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72A3B2E-55BA-AC2A-4047-6DC42EE9BC2A}"/>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1224878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43B8A-D287-B403-B87B-11FCEB5BD1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57AE53-72B8-8B54-225E-D9ABC469F6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3D744FB-FB9E-4A0A-42F9-FA1253E95B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8E3E7E-ABA4-B593-0113-8CDB9C909505}"/>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6" name="Footer Placeholder 5">
            <a:extLst>
              <a:ext uri="{FF2B5EF4-FFF2-40B4-BE49-F238E27FC236}">
                <a16:creationId xmlns:a16="http://schemas.microsoft.com/office/drawing/2014/main" id="{F5E6D956-D2D2-158E-7659-E8E8FC9A9CE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5BA0922-7A15-56B4-4B69-1AA319891F50}"/>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1129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C17B-2ACB-D387-77EF-AE8E716367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588E85-8F02-F11F-81F1-58F10100C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545AF3-C1C3-7DA6-35BA-7E8158FBB1DF}"/>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BC951F66-CEAF-723F-C5D5-E9B7C7CBF9E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8463740-82EF-7D44-3F16-73F22D34DDC1}"/>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1618008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64336E-EEEA-381C-9A4E-FBB0F85C98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324703-ED0E-5284-D846-B2D384361D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4A1AFB-B5EA-B7BC-5BB7-6D9DBA3D630F}"/>
              </a:ext>
            </a:extLst>
          </p:cNvPr>
          <p:cNvSpPr>
            <a:spLocks noGrp="1"/>
          </p:cNvSpPr>
          <p:nvPr>
            <p:ph type="dt" sz="half" idx="10"/>
          </p:nvPr>
        </p:nvSpPr>
        <p:spPr/>
        <p:txBody>
          <a:body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D6DF603A-B977-243B-771F-A2BE75D773C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22E891B-D73D-E68D-2BDB-F71FE4EC5EEA}"/>
              </a:ext>
            </a:extLst>
          </p:cNvPr>
          <p:cNvSpPr>
            <a:spLocks noGrp="1"/>
          </p:cNvSpPr>
          <p:nvPr>
            <p:ph type="sldNum" sz="quarter" idx="12"/>
          </p:nvPr>
        </p:nvSpPr>
        <p:spPr/>
        <p:txBody>
          <a:bodyPr/>
          <a:lstStyle/>
          <a:p>
            <a:fld id="{8402F42F-6DB4-44ED-BF81-2A731882514D}" type="slidenum">
              <a:rPr lang="en-IN" smtClean="0"/>
              <a:t>‹#›</a:t>
            </a:fld>
            <a:endParaRPr lang="en-IN" dirty="0"/>
          </a:p>
        </p:txBody>
      </p:sp>
    </p:spTree>
    <p:extLst>
      <p:ext uri="{BB962C8B-B14F-4D97-AF65-F5344CB8AC3E}">
        <p14:creationId xmlns:p14="http://schemas.microsoft.com/office/powerpoint/2010/main" val="2823432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29C08C-5CB4-C509-CFA1-1214D9384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D34039-456D-FFE8-3825-C6247013EA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E44E84-BE26-E345-AEF7-88AD2D5E3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1D694-46B2-4E06-9D62-7600BF93CE10}" type="datetimeFigureOut">
              <a:rPr lang="en-IN" smtClean="0"/>
              <a:t>04-09-2025</a:t>
            </a:fld>
            <a:endParaRPr lang="en-IN" dirty="0"/>
          </a:p>
        </p:txBody>
      </p:sp>
      <p:sp>
        <p:nvSpPr>
          <p:cNvPr id="5" name="Footer Placeholder 4">
            <a:extLst>
              <a:ext uri="{FF2B5EF4-FFF2-40B4-BE49-F238E27FC236}">
                <a16:creationId xmlns:a16="http://schemas.microsoft.com/office/drawing/2014/main" id="{E4BE25A9-ABE5-6AF9-0E31-BBBD35569E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35F8C461-194F-43C2-8FF0-1188F46141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2F42F-6DB4-44ED-BF81-2A731882514D}" type="slidenum">
              <a:rPr lang="en-IN" smtClean="0"/>
              <a:t>‹#›</a:t>
            </a:fld>
            <a:endParaRPr lang="en-IN" dirty="0"/>
          </a:p>
        </p:txBody>
      </p:sp>
    </p:spTree>
    <p:extLst>
      <p:ext uri="{BB962C8B-B14F-4D97-AF65-F5344CB8AC3E}">
        <p14:creationId xmlns:p14="http://schemas.microsoft.com/office/powerpoint/2010/main" val="1282521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DF7F0-64F6-61DE-99A2-30B3458B5443}"/>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8FAAB13-371E-A0E6-A6F1-E33FAFC7C3A0}"/>
              </a:ext>
            </a:extLst>
          </p:cNvPr>
          <p:cNvSpPr txBox="1"/>
          <p:nvPr/>
        </p:nvSpPr>
        <p:spPr>
          <a:xfrm>
            <a:off x="838200" y="1690688"/>
            <a:ext cx="641063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Project Name: </a:t>
            </a:r>
            <a:r>
              <a:rPr lang="en-IN" dirty="0">
                <a:latin typeface="Times New Roman" panose="02020603050405020304" pitchFamily="18" charset="0"/>
                <a:cs typeface="Times New Roman" panose="02020603050405020304" pitchFamily="18" charset="0"/>
              </a:rPr>
              <a:t>Stock Price Visualizer &amp; Predictor</a:t>
            </a: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CD35CF6-A898-F902-A10B-618C43A58B6A}"/>
              </a:ext>
            </a:extLst>
          </p:cNvPr>
          <p:cNvSpPr txBox="1"/>
          <p:nvPr/>
        </p:nvSpPr>
        <p:spPr>
          <a:xfrm>
            <a:off x="6223820" y="1690688"/>
            <a:ext cx="2473754" cy="2308324"/>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Team Lead:</a:t>
            </a:r>
          </a:p>
          <a:p>
            <a:r>
              <a:rPr lang="en-US" dirty="0">
                <a:latin typeface="Times New Roman" panose="02020603050405020304" pitchFamily="18" charset="0"/>
                <a:cs typeface="Times New Roman" panose="02020603050405020304" pitchFamily="18" charset="0"/>
              </a:rPr>
              <a:t>	Shreyas Zope</a:t>
            </a:r>
          </a:p>
          <a:p>
            <a:r>
              <a:rPr lang="en-US" b="1" dirty="0">
                <a:latin typeface="Times New Roman" panose="02020603050405020304" pitchFamily="18" charset="0"/>
                <a:cs typeface="Times New Roman" panose="02020603050405020304" pitchFamily="18" charset="0"/>
              </a:rPr>
              <a:t>Members:</a:t>
            </a:r>
          </a:p>
          <a:p>
            <a:r>
              <a:rPr lang="en-US" dirty="0">
                <a:latin typeface="Times New Roman" panose="02020603050405020304" pitchFamily="18" charset="0"/>
                <a:cs typeface="Times New Roman" panose="02020603050405020304" pitchFamily="18" charset="0"/>
              </a:rPr>
              <a:t>	Rohit Sawant</a:t>
            </a:r>
          </a:p>
          <a:p>
            <a:r>
              <a:rPr lang="en-US" dirty="0">
                <a:latin typeface="Times New Roman" panose="02020603050405020304" pitchFamily="18" charset="0"/>
                <a:cs typeface="Times New Roman" panose="02020603050405020304" pitchFamily="18" charset="0"/>
              </a:rPr>
              <a:t>	Amey Mojar</a:t>
            </a:r>
          </a:p>
          <a:p>
            <a:r>
              <a:rPr lang="en-US" dirty="0">
                <a:latin typeface="Times New Roman" panose="02020603050405020304" pitchFamily="18" charset="0"/>
                <a:cs typeface="Times New Roman" panose="02020603050405020304" pitchFamily="18" charset="0"/>
              </a:rPr>
              <a:t>	Om Avkale</a:t>
            </a:r>
          </a:p>
          <a:p>
            <a:r>
              <a:rPr lang="en-US" dirty="0">
                <a:latin typeface="Times New Roman" panose="02020603050405020304" pitchFamily="18" charset="0"/>
                <a:cs typeface="Times New Roman" panose="02020603050405020304" pitchFamily="18" charset="0"/>
              </a:rPr>
              <a:t>	Rohan Chavan</a:t>
            </a:r>
          </a:p>
          <a:p>
            <a:r>
              <a:rPr lang="en-US"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FE552C23-337D-C254-9E5A-DA8B1810AACD}"/>
              </a:ext>
            </a:extLst>
          </p:cNvPr>
          <p:cNvSpPr txBox="1"/>
          <p:nvPr/>
        </p:nvSpPr>
        <p:spPr>
          <a:xfrm>
            <a:off x="696732" y="4151649"/>
            <a:ext cx="9106030"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"Stock Price Visualizer" project aims to predict future stock trends by using machine learning models and large language models (LLMs) to analyze market trends and financial data. This approach is motivated by the need to move beyond human-based methods, which can be inefficient and based on gut feelings, and instead use vast amounts of digitally generated data to anticipate market outcomes. A literature survey of existing work in this area reveals the effectiveness of combining different data sources and machine learning techniques to improve prediction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2146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821E-4BED-721F-50B0-CFAAAE81D85B}"/>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Motivation</a:t>
            </a:r>
            <a:r>
              <a:rPr lang="en-US" dirty="0"/>
              <a:t> </a:t>
            </a:r>
            <a:endParaRPr lang="en-IN" dirty="0"/>
          </a:p>
        </p:txBody>
      </p:sp>
      <p:sp>
        <p:nvSpPr>
          <p:cNvPr id="3" name="TextBox 2">
            <a:extLst>
              <a:ext uri="{FF2B5EF4-FFF2-40B4-BE49-F238E27FC236}">
                <a16:creationId xmlns:a16="http://schemas.microsoft.com/office/drawing/2014/main" id="{4BD60562-D578-0E4D-72AC-1D249B4C57E8}"/>
              </a:ext>
            </a:extLst>
          </p:cNvPr>
          <p:cNvSpPr txBox="1"/>
          <p:nvPr/>
        </p:nvSpPr>
        <p:spPr>
          <a:xfrm>
            <a:off x="1012723" y="2094271"/>
            <a:ext cx="10502940" cy="1754326"/>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The projects core motivation is use of Vastly generated data by todays digitalized word.</a:t>
            </a:r>
          </a:p>
          <a:p>
            <a:r>
              <a:rPr lang="en-US" dirty="0">
                <a:latin typeface="Times New Roman" panose="02020603050405020304" pitchFamily="18" charset="0"/>
                <a:cs typeface="Times New Roman" panose="02020603050405020304" pitchFamily="18" charset="0"/>
              </a:rPr>
              <a:t>The data generated is used by model to generate an estimate of the future trends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Reducing strain in human based methods , where the data is interpreted by human to anticipate the outcome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Value of money management in efficient manner </a:t>
            </a:r>
          </a:p>
        </p:txBody>
      </p:sp>
    </p:spTree>
    <p:extLst>
      <p:ext uri="{BB962C8B-B14F-4D97-AF65-F5344CB8AC3E}">
        <p14:creationId xmlns:p14="http://schemas.microsoft.com/office/powerpoint/2010/main" val="305601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8582-7BC8-0E2E-7AFF-2FEC7AC76E7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Methodology</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AA44AA-3EED-70BE-0092-92D42237D99A}"/>
              </a:ext>
            </a:extLst>
          </p:cNvPr>
          <p:cNvSpPr txBox="1"/>
          <p:nvPr/>
        </p:nvSpPr>
        <p:spPr>
          <a:xfrm>
            <a:off x="983226" y="1936955"/>
            <a:ext cx="11377538" cy="2585323"/>
          </a:xfrm>
          <a:prstGeom prst="rect">
            <a:avLst/>
          </a:prstGeom>
          <a:noFill/>
        </p:spPr>
        <p:txBody>
          <a:bodyPr wrap="none" rtlCol="0">
            <a:spAutoFit/>
          </a:bodyPr>
          <a:lstStyle/>
          <a:p>
            <a:pPr marL="285750" indent="-285750">
              <a:buFont typeface="Arial" panose="020B0604020202020204" pitchFamily="34" charset="0"/>
              <a:buChar char="•"/>
            </a:pPr>
            <a:r>
              <a:rPr lang="en-US" dirty="0"/>
              <a:t>The Project works on the code idea on Machine learning and LLM(Large Language Model)</a:t>
            </a:r>
          </a:p>
          <a:p>
            <a:pPr marL="285750" indent="-285750">
              <a:buFont typeface="Arial" panose="020B0604020202020204" pitchFamily="34" charset="0"/>
              <a:buChar char="•"/>
            </a:pPr>
            <a:r>
              <a:rPr lang="en-US" dirty="0"/>
              <a:t>The Model gathers data(Financial Records and News Headings) from open end API’s</a:t>
            </a:r>
          </a:p>
          <a:p>
            <a:pPr marL="285750" indent="-285750">
              <a:buFont typeface="Arial" panose="020B0604020202020204" pitchFamily="34" charset="0"/>
              <a:buChar char="•"/>
            </a:pPr>
            <a:r>
              <a:rPr lang="en-US" dirty="0"/>
              <a:t>These features are enhanced and preprocessed to generate new features suitable for the Model to make predictions</a:t>
            </a:r>
          </a:p>
          <a:p>
            <a:pPr marL="285750" indent="-285750">
              <a:buFont typeface="Arial" panose="020B0604020202020204" pitchFamily="34" charset="0"/>
              <a:buChar char="•"/>
            </a:pPr>
            <a:r>
              <a:rPr lang="en-US" dirty="0"/>
              <a:t>Finaly the model is trained and tested and then deployed for prediction</a:t>
            </a:r>
          </a:p>
          <a:p>
            <a:pPr marL="285750" indent="-285750">
              <a:buFont typeface="Arial" panose="020B0604020202020204" pitchFamily="34" charset="0"/>
              <a:buChar char="•"/>
            </a:pPr>
            <a:r>
              <a:rPr lang="en-US" dirty="0"/>
              <a:t>The Predicted outcome is sent to the user Interface for Visualizations of data and outcome  </a:t>
            </a:r>
          </a:p>
          <a:p>
            <a:pPr marL="285750" indent="-285750">
              <a:buFont typeface="Arial" panose="020B0604020202020204" pitchFamily="34" charset="0"/>
              <a:buChar char="•"/>
            </a:pPr>
            <a:r>
              <a:rPr lang="en-US" dirty="0"/>
              <a:t>These Methodology will include 3 Main Technologies:</a:t>
            </a:r>
          </a:p>
          <a:p>
            <a:r>
              <a:rPr lang="en-US" dirty="0"/>
              <a:t>	-Python Script</a:t>
            </a:r>
          </a:p>
          <a:p>
            <a:r>
              <a:rPr lang="en-US" dirty="0"/>
              <a:t>	-Node.js Server</a:t>
            </a:r>
          </a:p>
          <a:p>
            <a:r>
              <a:rPr lang="en-US" dirty="0"/>
              <a:t>	-React.js Frontend </a:t>
            </a:r>
            <a:endParaRPr lang="en-IN" dirty="0"/>
          </a:p>
        </p:txBody>
      </p:sp>
    </p:spTree>
    <p:extLst>
      <p:ext uri="{BB962C8B-B14F-4D97-AF65-F5344CB8AC3E}">
        <p14:creationId xmlns:p14="http://schemas.microsoft.com/office/powerpoint/2010/main" val="2262067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956A2-FC44-6713-E37C-BAEB306FCB6C}"/>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Workflow</a:t>
            </a:r>
          </a:p>
        </p:txBody>
      </p:sp>
      <p:graphicFrame>
        <p:nvGraphicFramePr>
          <p:cNvPr id="3" name="Diagram 2">
            <a:extLst>
              <a:ext uri="{FF2B5EF4-FFF2-40B4-BE49-F238E27FC236}">
                <a16:creationId xmlns:a16="http://schemas.microsoft.com/office/drawing/2014/main" id="{FFB733D6-9DE9-D7D1-8864-B4C1C60D4F1D}"/>
              </a:ext>
            </a:extLst>
          </p:cNvPr>
          <p:cNvGraphicFramePr/>
          <p:nvPr>
            <p:extLst>
              <p:ext uri="{D42A27DB-BD31-4B8C-83A1-F6EECF244321}">
                <p14:modId xmlns:p14="http://schemas.microsoft.com/office/powerpoint/2010/main" val="322975183"/>
              </p:ext>
            </p:extLst>
          </p:nvPr>
        </p:nvGraphicFramePr>
        <p:xfrm>
          <a:off x="1616996" y="1586579"/>
          <a:ext cx="8958007" cy="4906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7310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7F3A-B79E-04C6-891B-898182BFA81E}"/>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Implementation details</a:t>
            </a:r>
          </a:p>
        </p:txBody>
      </p:sp>
      <p:sp>
        <p:nvSpPr>
          <p:cNvPr id="3" name="TextBox 2">
            <a:extLst>
              <a:ext uri="{FF2B5EF4-FFF2-40B4-BE49-F238E27FC236}">
                <a16:creationId xmlns:a16="http://schemas.microsoft.com/office/drawing/2014/main" id="{3FBEF4D6-9464-7D9F-F01E-9C649E4A9F86}"/>
              </a:ext>
            </a:extLst>
          </p:cNvPr>
          <p:cNvSpPr txBox="1"/>
          <p:nvPr/>
        </p:nvSpPr>
        <p:spPr>
          <a:xfrm>
            <a:off x="363148" y="1690688"/>
            <a:ext cx="11465703" cy="3970318"/>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Front End : Use of React.js is being done for the frontend and visualization</a:t>
            </a:r>
            <a:r>
              <a:rPr lang="en-IN" dirty="0">
                <a:latin typeface="Times New Roman" panose="02020603050405020304" pitchFamily="18" charset="0"/>
                <a:cs typeface="Times New Roman" panose="02020603050405020304" pitchFamily="18" charset="0"/>
              </a:rPr>
              <a:t> it will contain information such as Model</a:t>
            </a:r>
          </a:p>
          <a:p>
            <a:r>
              <a:rPr lang="en-IN" b="1" dirty="0">
                <a:latin typeface="Times New Roman" panose="02020603050405020304" pitchFamily="18" charset="0"/>
                <a:cs typeface="Times New Roman" panose="02020603050405020304" pitchFamily="18" charset="0"/>
              </a:rPr>
              <a:t>Accuracy</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Model data Visuals in </a:t>
            </a:r>
            <a:r>
              <a:rPr lang="en-US" b="1" dirty="0">
                <a:latin typeface="Times New Roman" panose="02020603050405020304" pitchFamily="18" charset="0"/>
                <a:cs typeface="Times New Roman" panose="02020603050405020304" pitchFamily="18" charset="0"/>
              </a:rPr>
              <a:t>data candles </a:t>
            </a:r>
            <a:r>
              <a:rPr lang="en-US" dirty="0">
                <a:latin typeface="Times New Roman" panose="02020603050405020304" pitchFamily="18" charset="0"/>
                <a:cs typeface="Times New Roman" panose="02020603050405020304" pitchFamily="18" charset="0"/>
              </a:rPr>
              <a:t>format, </a:t>
            </a:r>
            <a:r>
              <a:rPr lang="en-US" b="1" dirty="0">
                <a:latin typeface="Times New Roman" panose="02020603050405020304" pitchFamily="18" charset="0"/>
                <a:cs typeface="Times New Roman" panose="02020603050405020304" pitchFamily="18" charset="0"/>
              </a:rPr>
              <a:t>Prediction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correctness</a:t>
            </a:r>
            <a:r>
              <a:rPr lang="en-US" dirty="0">
                <a:latin typeface="Times New Roman" panose="02020603050405020304" pitchFamily="18" charset="0"/>
                <a:cs typeface="Times New Roman" panose="02020603050405020304" pitchFamily="18" charset="0"/>
              </a:rPr>
              <a:t> of the prediction and finally the </a:t>
            </a:r>
            <a:r>
              <a:rPr lang="en-US" b="1" dirty="0">
                <a:latin typeface="Times New Roman" panose="02020603050405020304" pitchFamily="18" charset="0"/>
                <a:cs typeface="Times New Roman" panose="02020603050405020304" pitchFamily="18" charset="0"/>
              </a:rPr>
              <a:t>Tabular</a:t>
            </a:r>
          </a:p>
          <a:p>
            <a:r>
              <a:rPr lang="en-US" b="1" dirty="0">
                <a:latin typeface="Times New Roman" panose="02020603050405020304" pitchFamily="18" charset="0"/>
                <a:cs typeface="Times New Roman" panose="02020603050405020304" pitchFamily="18" charset="0"/>
              </a:rPr>
              <a:t>Format of the data</a:t>
            </a:r>
            <a:r>
              <a:rPr lang="en-US" dirty="0">
                <a:latin typeface="Times New Roman" panose="02020603050405020304" pitchFamily="18" charset="0"/>
                <a:cs typeface="Times New Roman" panose="02020603050405020304" pitchFamily="18" charset="0"/>
              </a:rPr>
              <a:t> gathered for user crosschecking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Server:</a:t>
            </a:r>
          </a:p>
          <a:p>
            <a:r>
              <a:rPr lang="en-US" dirty="0">
                <a:latin typeface="Times New Roman" panose="02020603050405020304" pitchFamily="18" charset="0"/>
                <a:cs typeface="Times New Roman" panose="02020603050405020304" pitchFamily="18" charset="0"/>
              </a:rPr>
              <a:t>The server is simply build by Node.js and it acts as an intermediate between Front end and the Model’s Python script</a:t>
            </a:r>
          </a:p>
          <a:p>
            <a:r>
              <a:rPr lang="en-US" dirty="0">
                <a:latin typeface="Times New Roman" panose="02020603050405020304" pitchFamily="18" charset="0"/>
                <a:cs typeface="Times New Roman" panose="02020603050405020304" pitchFamily="18" charset="0"/>
              </a:rPr>
              <a:t>The has a </a:t>
            </a:r>
            <a:r>
              <a:rPr lang="en-US" b="1" dirty="0">
                <a:latin typeface="Times New Roman" panose="02020603050405020304" pitchFamily="18" charset="0"/>
                <a:cs typeface="Times New Roman" panose="02020603050405020304" pitchFamily="18" charset="0"/>
              </a:rPr>
              <a:t>POST API </a:t>
            </a:r>
            <a:r>
              <a:rPr lang="en-US" dirty="0">
                <a:latin typeface="Times New Roman" panose="02020603050405020304" pitchFamily="18" charset="0"/>
                <a:cs typeface="Times New Roman" panose="02020603050405020304" pitchFamily="18" charset="0"/>
              </a:rPr>
              <a:t>that gathers data from the front end about the symbol of stock and then generates a </a:t>
            </a:r>
            <a:r>
              <a:rPr lang="en-US" b="1" dirty="0">
                <a:latin typeface="Times New Roman" panose="02020603050405020304" pitchFamily="18" charset="0"/>
                <a:cs typeface="Times New Roman" panose="02020603050405020304" pitchFamily="18" charset="0"/>
              </a:rPr>
              <a:t>child process</a:t>
            </a:r>
          </a:p>
          <a:p>
            <a:r>
              <a:rPr lang="en-US" dirty="0">
                <a:latin typeface="Times New Roman" panose="02020603050405020304" pitchFamily="18" charset="0"/>
                <a:cs typeface="Times New Roman" panose="02020603050405020304" pitchFamily="18" charset="0"/>
              </a:rPr>
              <a:t>Which runs the Python script and the server sends the Symbol as a </a:t>
            </a:r>
            <a:r>
              <a:rPr lang="en-US" b="1" dirty="0">
                <a:latin typeface="Times New Roman" panose="02020603050405020304" pitchFamily="18" charset="0"/>
                <a:cs typeface="Times New Roman" panose="02020603050405020304" pitchFamily="18" charset="0"/>
              </a:rPr>
              <a:t>Command Line Argument </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Once the process is completed the data is simply sent to the front end by the server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Model: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 of Python is done in this. The Model catches the Command Line Argument by using the Python Library ‘sys’</a:t>
            </a:r>
          </a:p>
          <a:p>
            <a:r>
              <a:rPr lang="en-US" dirty="0">
                <a:latin typeface="Times New Roman" panose="02020603050405020304" pitchFamily="18" charset="0"/>
                <a:cs typeface="Times New Roman" panose="02020603050405020304" pitchFamily="18" charset="0"/>
              </a:rPr>
              <a:t>This Symbol is then fed to the model that uses both </a:t>
            </a:r>
            <a:r>
              <a:rPr lang="en-US" b="1" dirty="0">
                <a:latin typeface="Times New Roman" panose="02020603050405020304" pitchFamily="18" charset="0"/>
                <a:cs typeface="Times New Roman" panose="02020603050405020304" pitchFamily="18" charset="0"/>
              </a:rPr>
              <a:t>LLM</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Random Forest </a:t>
            </a:r>
            <a:r>
              <a:rPr lang="en-US" b="1" dirty="0" err="1">
                <a:latin typeface="Times New Roman" panose="02020603050405020304" pitchFamily="18" charset="0"/>
                <a:cs typeface="Times New Roman" panose="02020603050405020304" pitchFamily="18" charset="0"/>
              </a:rPr>
              <a:t>Algorithum</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predict the outcome of the </a:t>
            </a:r>
          </a:p>
          <a:p>
            <a:r>
              <a:rPr lang="en-US" dirty="0">
                <a:latin typeface="Times New Roman" panose="02020603050405020304" pitchFamily="18" charset="0"/>
                <a:cs typeface="Times New Roman" panose="02020603050405020304" pitchFamily="18" charset="0"/>
              </a:rPr>
              <a:t>Next days Stock trend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6619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89366-ABB4-0627-8621-9FEA28C0E61B}"/>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Literature Survey</a:t>
            </a:r>
          </a:p>
        </p:txBody>
      </p:sp>
      <p:sp>
        <p:nvSpPr>
          <p:cNvPr id="3" name="TextBox 2">
            <a:extLst>
              <a:ext uri="{FF2B5EF4-FFF2-40B4-BE49-F238E27FC236}">
                <a16:creationId xmlns:a16="http://schemas.microsoft.com/office/drawing/2014/main" id="{BF48943B-60EF-14C8-8B12-E772B01AA166}"/>
              </a:ext>
            </a:extLst>
          </p:cNvPr>
          <p:cNvSpPr txBox="1"/>
          <p:nvPr/>
        </p:nvSpPr>
        <p:spPr>
          <a:xfrm>
            <a:off x="838200" y="2015613"/>
            <a:ext cx="9683478"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Historically, stock market analysis has been based on </a:t>
            </a:r>
            <a:r>
              <a:rPr lang="en-US" b="1" dirty="0">
                <a:latin typeface="Times New Roman" panose="02020603050405020304" pitchFamily="18" charset="0"/>
                <a:cs typeface="Times New Roman" panose="02020603050405020304" pitchFamily="18" charset="0"/>
              </a:rPr>
              <a:t>technical analysis</a:t>
            </a:r>
            <a:r>
              <a:rPr lang="en-US" dirty="0">
                <a:latin typeface="Times New Roman" panose="02020603050405020304" pitchFamily="18" charset="0"/>
                <a:cs typeface="Times New Roman" panose="02020603050405020304" pitchFamily="18" charset="0"/>
              </a:rPr>
              <a:t>, which uses historical price charts, and </a:t>
            </a:r>
            <a:r>
              <a:rPr lang="en-US" b="1" dirty="0">
                <a:latin typeface="Times New Roman" panose="02020603050405020304" pitchFamily="18" charset="0"/>
                <a:cs typeface="Times New Roman" panose="02020603050405020304" pitchFamily="18" charset="0"/>
              </a:rPr>
              <a:t>fundamental analysis</a:t>
            </a:r>
            <a:r>
              <a:rPr lang="en-US" dirty="0">
                <a:latin typeface="Times New Roman" panose="02020603050405020304" pitchFamily="18" charset="0"/>
                <a:cs typeface="Times New Roman" panose="02020603050405020304" pitchFamily="18" charset="0"/>
              </a:rPr>
              <a:t>, which relies on a company's financial reports. However, these methods often struggle with the complexity and non-linear nature of financial markets. As a result, researchers have increasingly turned to machine learning (ML) models.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Random Forest</a:t>
            </a:r>
            <a:r>
              <a:rPr lang="en-US" dirty="0">
                <a:latin typeface="Times New Roman" panose="02020603050405020304" pitchFamily="18" charset="0"/>
                <a:cs typeface="Times New Roman" panose="02020603050405020304" pitchFamily="18" charset="0"/>
              </a:rPr>
              <a:t> algorithm is a particularly robust approach. It's an </a:t>
            </a:r>
            <a:r>
              <a:rPr lang="en-US" b="1" dirty="0">
                <a:latin typeface="Times New Roman" panose="02020603050405020304" pitchFamily="18" charset="0"/>
                <a:cs typeface="Times New Roman" panose="02020603050405020304" pitchFamily="18" charset="0"/>
              </a:rPr>
              <a:t>ensemble learning method</a:t>
            </a:r>
            <a:r>
              <a:rPr lang="en-US" dirty="0">
                <a:latin typeface="Times New Roman" panose="02020603050405020304" pitchFamily="18" charset="0"/>
                <a:cs typeface="Times New Roman" panose="02020603050405020304" pitchFamily="18" charset="0"/>
              </a:rPr>
              <a:t> that combines the results of </a:t>
            </a:r>
            <a:r>
              <a:rPr lang="en-US" b="1" dirty="0">
                <a:latin typeface="Times New Roman" panose="02020603050405020304" pitchFamily="18" charset="0"/>
                <a:cs typeface="Times New Roman" panose="02020603050405020304" pitchFamily="18" charset="0"/>
              </a:rPr>
              <a:t>multiple decision trees </a:t>
            </a:r>
            <a:r>
              <a:rPr lang="en-US" dirty="0">
                <a:latin typeface="Times New Roman" panose="02020603050405020304" pitchFamily="18" charset="0"/>
                <a:cs typeface="Times New Roman" panose="02020603050405020304" pitchFamily="18" charset="0"/>
              </a:rPr>
              <a:t>to produce more stable and accurate predictions than a single decision tree. The algorithm is known for its ability to </a:t>
            </a:r>
            <a:r>
              <a:rPr lang="en-US" b="1" dirty="0">
                <a:latin typeface="Times New Roman" panose="02020603050405020304" pitchFamily="18" charset="0"/>
                <a:cs typeface="Times New Roman" panose="02020603050405020304" pitchFamily="18" charset="0"/>
              </a:rPr>
              <a:t>handle complex data and is less sensitive to the scale of input variables</a:t>
            </a:r>
            <a:r>
              <a:rPr lang="en-US" dirty="0">
                <a:latin typeface="Times New Roman" panose="02020603050405020304" pitchFamily="18" charset="0"/>
                <a:cs typeface="Times New Roman" panose="02020603050405020304" pitchFamily="18" charset="0"/>
              </a:rPr>
              <a:t> compared to other models. Studies have shown that Random Forest can </a:t>
            </a:r>
            <a:r>
              <a:rPr lang="en-US" b="1" dirty="0">
                <a:latin typeface="Times New Roman" panose="02020603050405020304" pitchFamily="18" charset="0"/>
                <a:cs typeface="Times New Roman" panose="02020603050405020304" pitchFamily="18" charset="0"/>
              </a:rPr>
              <a:t>achieve high accuracy rates and outperform traditional methods </a:t>
            </a:r>
            <a:r>
              <a:rPr lang="en-US" dirty="0">
                <a:latin typeface="Times New Roman" panose="02020603050405020304" pitchFamily="18" charset="0"/>
                <a:cs typeface="Times New Roman" panose="02020603050405020304" pitchFamily="18" charset="0"/>
              </a:rPr>
              <a:t>when trained on relevant features.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5863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704</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Introduction</vt:lpstr>
      <vt:lpstr>Motivation </vt:lpstr>
      <vt:lpstr>Methodology</vt:lpstr>
      <vt:lpstr>Workflow</vt:lpstr>
      <vt:lpstr>Implementation details</vt:lpstr>
      <vt:lpstr>Literature Survey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Zope</dc:creator>
  <cp:lastModifiedBy>Shreyas Zope</cp:lastModifiedBy>
  <cp:revision>2</cp:revision>
  <dcterms:created xsi:type="dcterms:W3CDTF">2025-09-04T03:28:38Z</dcterms:created>
  <dcterms:modified xsi:type="dcterms:W3CDTF">2025-09-04T04:31:55Z</dcterms:modified>
</cp:coreProperties>
</file>